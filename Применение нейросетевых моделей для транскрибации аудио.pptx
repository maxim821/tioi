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F4E0D9-DF3B-4F59-A811-525CC22F4B7B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116019-18F8-46CF-8382-8754D4F2A5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876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407392-0610-56B9-A0EB-3914342A0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6BB8A9-3D14-55A7-EE2F-F86954605E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4FFADE-52CB-52E2-146A-D639434D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86580-7287-4A83-A6C9-A5DAD1C42F7D}" type="datetime1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E22C06-23A1-A007-B47C-8FE4F8868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F22954-F3B3-07C3-980F-38CFB7E24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402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54C4C-BA06-66EC-0B35-3373AECC2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730F3A-84EE-1082-5077-DB3C94CA8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DCADFD-930B-D80E-A620-37A5EE385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22F1-2EE5-4644-BD28-77383C6FBA3B}" type="datetime1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C335C7-7A19-B4A9-65D1-BA6288D8B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37EC23-98B3-FB76-95FC-3E17E2B73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495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173EFA-4391-5CBB-C6D5-3483101DD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EAD85B-E6F2-EE17-1E45-255284F33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DA5A9F-1E3E-BC62-F1F6-23A248631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64FDE-2775-403C-8372-7A70D92539AB}" type="datetime1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FD0A09-067D-4B2E-4FAF-CAB899642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21E833-926B-116D-0B3F-40700B4C0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7792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32736-239E-8A1E-6D3C-8A25AB40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AC99C8-5A91-45D7-498E-A77B056B10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5FF2EB0-2959-3AB3-8C0A-40552E23F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4F747C-1620-6B77-0BED-47917E168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CBA2-9DE2-4AA0-9C2F-B3D42440FC96}" type="datetime1">
              <a:rPr lang="ru-RU" smtClean="0"/>
              <a:t>23.03.2026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37D356F-C4BF-45B1-47FB-79B573D97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3ED6568-E9DC-15B9-CCD9-FAEF2E94E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123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1EFA13-7B11-A4AE-9D78-9FAFBC4DB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945C45-CF80-14B4-5834-CAC28BDAE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F05BD0-2150-4F4E-9A63-E7355DD17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6393870-07A3-5A7C-F2B5-1BCFC8DBB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CFBD7B3-D67C-D3BB-F29C-BC4DED87A1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3AFA4B9-19A8-5603-305B-56DF23506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15E66-B1AB-425E-A82D-20171D130A1F}" type="datetime1">
              <a:rPr lang="ru-RU" smtClean="0"/>
              <a:t>23.03.2026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C2EBA69-0E21-822E-206C-A2273E0B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02F0040-23E9-3855-836B-D0E853DDC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262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794667-D5E4-AFE4-4BA8-22EFA7AF3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AC5207A-1296-7C89-591A-034196101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E1EC-1889-4B29-8F05-107E44C57612}" type="datetime1">
              <a:rPr lang="ru-RU" smtClean="0"/>
              <a:t>23.03.2026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A883762-8980-EFBC-22E3-5281EE3B4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DF9F79F-9771-EABA-B7FC-742E31D7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358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A5C2041-1346-A591-2A1C-F3CDACBF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A941-CD8A-42BB-81F2-3906349818C1}" type="datetime1">
              <a:rPr lang="ru-RU" smtClean="0"/>
              <a:t>23.03.2026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DD7A84C-DF10-AFFB-ABFB-AEFADF676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0979FA-91FA-46B3-5D87-CCA053C6B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5872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664014-E2B8-1859-6C93-AC1948A8A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ECA7B3-9C24-F375-F5E1-21E2B1FA8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0AD629F-DACF-B7C7-6DC5-9489E0D68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619A46F-1656-528B-9A9E-AA3AFCD7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64A68-CDA2-4F6C-A2B4-0921156CA9BE}" type="datetime1">
              <a:rPr lang="ru-RU" smtClean="0"/>
              <a:t>23.03.2026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657122-35F1-F0D9-1A74-5C7A09A0F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489B4D-4AFE-148A-FDC3-B6368B18E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370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000C22-580E-9CC9-2FC0-7DE34B3A6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79FB224-F0C0-018C-5685-12103C1EE0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2A7DC0-8D12-F159-035A-5842F76FD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A566A8-92EF-0263-A515-D4466E472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202DD-0B13-4762-81C9-DF6C67B455F9}" type="datetime1">
              <a:rPr lang="ru-RU" smtClean="0"/>
              <a:t>23.03.2026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696281-0718-BDC2-5223-2FC266717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576BF7-C95C-B0DA-44F8-8CC92EED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089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153FEF-C320-39E8-8B06-9397B4E34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B652396-6E44-2519-7A60-D9307A99B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AF26A7-40A7-D23C-94CF-8721AF2A3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FD017-8788-4ED1-8098-6FB5E7C826F0}" type="datetime1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74B800-F076-72FC-FA8E-F7879D169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D88222-70A8-C9F3-DAF7-060F41501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3085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5575A9D-F4F6-07F6-C279-B95114F0B8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8FD5C78-21C1-546D-F8D0-08C07FDD6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B9936D-C933-FB24-2B87-BDBD5D42B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413A-970C-41E8-9554-ECAE3D57D40A}" type="datetime1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9F6886-5D82-3A80-A4EE-D985CA939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E92912-06A3-C691-DD1E-8AFA3DFE2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27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71631A-80A2-55F6-32E5-7BB7173D7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B14823-26B9-F375-5530-5C3B68BA7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D4A2D7-DC9D-51B4-19AD-98ADF3133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9CAF3-F8EF-40F5-A7D1-E6DB70117591}" type="datetime1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141BE0-480A-BF1C-9482-DA0670AA5C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D1431C-EC18-513E-DD91-8D5DC7C2AC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A65B8-2979-44E9-8D26-66FE3A504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9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F90A4A-F20F-A20F-C7DB-0FF11C53FD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Применение нейросетевых моделей для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транскрибации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аудио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19A23FF-9CE1-AF19-C40D-50F3E0F75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316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E957EF-33FA-0A3A-4CE9-C0F5E5441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38470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Определение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CF624A-2C9B-C46D-BCAB-21600EDD3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579" y="1180708"/>
            <a:ext cx="10515600" cy="28094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Нейросеть для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транскрибации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голоса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это ИИ-модель, которая автоматически преобразует аудиозаписи речи в текст, используя технологии распознавания речи (ASR -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Automatic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Speech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Recognition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). Она анализирует звуковые волны, выделяет фонемы, слова и предложения, учитывая контекст, пунктуацию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спикеров</a:t>
            </a:r>
          </a:p>
        </p:txBody>
      </p:sp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8CF1A229-901B-0E95-7802-16632FF5A8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94" b="18164"/>
          <a:stretch>
            <a:fillRect/>
          </a:stretch>
        </p:blipFill>
        <p:spPr bwMode="auto">
          <a:xfrm>
            <a:off x="2623930" y="3832405"/>
            <a:ext cx="6609522" cy="246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F0B275-900C-A593-37C1-904309BB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7695" y="378031"/>
            <a:ext cx="2743200" cy="365125"/>
          </a:xfrm>
        </p:spPr>
        <p:txBody>
          <a:bodyPr/>
          <a:lstStyle/>
          <a:p>
            <a:fld id="{096A65B8-2979-44E9-8D26-66FE3A50472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0947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85E156-1175-07BA-1067-7B22C522C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65043"/>
            <a:ext cx="10515600" cy="1484243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Актуальность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0B71798-8E59-46E0-ADEB-D3963AE3D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8" t="8976"/>
          <a:stretch>
            <a:fillRect/>
          </a:stretch>
        </p:blipFill>
        <p:spPr>
          <a:xfrm>
            <a:off x="2149633" y="1020417"/>
            <a:ext cx="8690646" cy="5625136"/>
          </a:xfr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F50ACC-DF86-772E-7758-A760F008D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3948" y="368460"/>
            <a:ext cx="2743200" cy="365125"/>
          </a:xfrm>
        </p:spPr>
        <p:txBody>
          <a:bodyPr/>
          <a:lstStyle/>
          <a:p>
            <a:fld id="{096A65B8-2979-44E9-8D26-66FE3A50472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7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FD69C-2B3D-1667-E88C-AEF4C2EAB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421"/>
            <a:ext cx="10515600" cy="1090863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Принцип работы нейросетей для 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транскрибации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 аудио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E5A740-4A1C-2D83-D955-64C44E23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7905" y="315912"/>
            <a:ext cx="2743200" cy="365125"/>
          </a:xfrm>
        </p:spPr>
        <p:txBody>
          <a:bodyPr/>
          <a:lstStyle/>
          <a:p>
            <a:fld id="{096A65B8-2979-44E9-8D26-66FE3A504725}" type="slidenum">
              <a:rPr lang="ru-RU" smtClean="0"/>
              <a:t>4</a:t>
            </a:fld>
            <a:endParaRPr lang="ru-RU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0D4592CC-43F9-FFFF-7CC7-7A914A88AD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49" t="14163" r="1335"/>
          <a:stretch>
            <a:fillRect/>
          </a:stretch>
        </p:blipFill>
        <p:spPr>
          <a:xfrm>
            <a:off x="565872" y="1251284"/>
            <a:ext cx="11060255" cy="5143837"/>
          </a:xfrm>
        </p:spPr>
      </p:pic>
    </p:spTree>
    <p:extLst>
      <p:ext uri="{BB962C8B-B14F-4D97-AF65-F5344CB8AC3E}">
        <p14:creationId xmlns:p14="http://schemas.microsoft.com/office/powerpoint/2010/main" val="3112729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7C61E0-6E53-7320-46FA-BF9B9EB35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93557"/>
            <a:ext cx="10515600" cy="1844842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Архитектура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B9F745-D2E3-CCE2-9EA2-84482C719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6064"/>
            <a:ext cx="10515600" cy="59354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3500" dirty="0">
                <a:latin typeface="Arial" panose="020B0604020202020204" pitchFamily="34" charset="0"/>
                <a:cs typeface="Arial" panose="020B0604020202020204" pitchFamily="34" charset="0"/>
              </a:rPr>
              <a:t>Преимущества архитектуры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В отличие от RNN или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CNN</a:t>
            </a: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, которые обрабатывают аудио последовательно, </a:t>
            </a:r>
            <a:r>
              <a:rPr lang="ru-RU" sz="3000" dirty="0" err="1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 может сразу проанализировать всю аудиозапись целиком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Благодаря тому, что каждый фрейм аудио обрабатывается одновременно, а не по шагам, обработка проходит быстрее, особенно на GPU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Механизм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self-attention</a:t>
            </a: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 позволяет </a:t>
            </a:r>
            <a:r>
              <a:rPr lang="ru-RU" sz="3000" dirty="0" err="1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 учитывать весь контекст фразы, а не только отдельный звук, благодаря этому модель понимает слово даже если оно произнесено с непривычным акцентом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Механизм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self-attention</a:t>
            </a: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 выделяет ключевые участки аудио, игнорируя неважные шумовые фрагменты. Если модель видит, что определённые фреймы не связаны с речью, она почти не учитывает их при распознавании слов</a:t>
            </a:r>
          </a:p>
          <a:p>
            <a:pPr marL="0" indent="0">
              <a:buNone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23B38B-8E6D-DF02-7879-242865F2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078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990364-7DC6-F50A-2171-21D90358A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142" y="-787010"/>
            <a:ext cx="10515600" cy="2268204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Архитектура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23189A-3A44-B120-88CC-2E289C50C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6</a:t>
            </a:fld>
            <a:endParaRPr lang="ru-RU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0E2A310B-1408-6FFA-6074-1350E89E4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A76EC62-14D7-C14F-6D17-36FBE9B5C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88" y="671421"/>
            <a:ext cx="11594108" cy="618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5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4110D-1FEA-8332-8008-84D88EA15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7788" y="-128336"/>
            <a:ext cx="8386011" cy="1267326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Архитектура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594F294-DFA0-329C-E9CA-1AF702F79F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757" y="825457"/>
            <a:ext cx="11275064" cy="6053279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326F0D-B2D7-9639-CDB6-F6743C7C1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861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E7C601-C6ED-C927-1D0C-FD61894ED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68966"/>
            <a:ext cx="10515600" cy="149191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Сравнительный анализ нейросетей для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транскрибации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аудио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CD8923EA-AD84-C336-133A-8C7AB5F78B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1186663"/>
              </p:ext>
            </p:extLst>
          </p:nvPr>
        </p:nvGraphicFramePr>
        <p:xfrm>
          <a:off x="677779" y="998491"/>
          <a:ext cx="11081084" cy="5463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271">
                  <a:extLst>
                    <a:ext uri="{9D8B030D-6E8A-4147-A177-3AD203B41FA5}">
                      <a16:colId xmlns:a16="http://schemas.microsoft.com/office/drawing/2014/main" val="3412972874"/>
                    </a:ext>
                  </a:extLst>
                </a:gridCol>
                <a:gridCol w="2770271">
                  <a:extLst>
                    <a:ext uri="{9D8B030D-6E8A-4147-A177-3AD203B41FA5}">
                      <a16:colId xmlns:a16="http://schemas.microsoft.com/office/drawing/2014/main" val="2454958777"/>
                    </a:ext>
                  </a:extLst>
                </a:gridCol>
                <a:gridCol w="2770271">
                  <a:extLst>
                    <a:ext uri="{9D8B030D-6E8A-4147-A177-3AD203B41FA5}">
                      <a16:colId xmlns:a16="http://schemas.microsoft.com/office/drawing/2014/main" val="2448775490"/>
                    </a:ext>
                  </a:extLst>
                </a:gridCol>
                <a:gridCol w="2770271">
                  <a:extLst>
                    <a:ext uri="{9D8B030D-6E8A-4147-A177-3AD203B41FA5}">
                      <a16:colId xmlns:a16="http://schemas.microsoft.com/office/drawing/2014/main" val="1589734073"/>
                    </a:ext>
                  </a:extLst>
                </a:gridCol>
              </a:tblGrid>
              <a:tr h="545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Параметр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Vosk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Whisper (medium)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Kaldi 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1651148"/>
                  </a:ext>
                </a:extLst>
              </a:tr>
              <a:tr h="428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Архитектура</a:t>
                      </a:r>
                      <a:endParaRPr lang="ru-RU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RNN / 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HMM + DNN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6834231"/>
                  </a:ext>
                </a:extLst>
              </a:tr>
              <a:tr h="428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WER (</a:t>
                      </a:r>
                      <a:r>
                        <a:rPr lang="ru-RU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чистая речь, %)</a:t>
                      </a:r>
                      <a:endParaRPr lang="ru-RU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~10–15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~5–8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~7–12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2553321"/>
                  </a:ext>
                </a:extLst>
              </a:tr>
              <a:tr h="428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WER (</a:t>
                      </a:r>
                      <a:r>
                        <a:rPr lang="ru-RU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шум, %)</a:t>
                      </a:r>
                      <a:endParaRPr lang="ru-RU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~15–20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~10–12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~12–20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9529189"/>
                  </a:ext>
                </a:extLst>
              </a:tr>
              <a:tr h="771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Акценты</a:t>
                      </a:r>
                      <a:endParaRPr lang="ru-RU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+2–5%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+1–3%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+2–6% (зависит от адаптации)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9302090"/>
                  </a:ext>
                </a:extLst>
              </a:tr>
              <a:tr h="697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Скорость </a:t>
                      </a:r>
                      <a:r>
                        <a:rPr lang="ru-RU" sz="18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инференса</a:t>
                      </a:r>
                      <a:r>
                        <a:rPr lang="ru-RU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(10 сек аудио)</a:t>
                      </a:r>
                      <a:endParaRPr lang="ru-RU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~0.2–0.5 сек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~1–2 сек (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~0.5–1.5 сек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1346921"/>
                  </a:ext>
                </a:extLst>
              </a:tr>
              <a:tr h="771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Требования к </a:t>
                      </a:r>
                      <a:r>
                        <a:rPr lang="en-US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GPU / VRAM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ГБ или меньше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2–3 ГБ 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2–4 ГБ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3785270"/>
                  </a:ext>
                </a:extLst>
              </a:tr>
              <a:tr h="428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Поддержка языков</a:t>
                      </a:r>
                      <a:endParaRPr lang="ru-RU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5–10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99+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10–20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125544"/>
                  </a:ext>
                </a:extLst>
              </a:tr>
              <a:tr h="797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Размер модели (на диске)</a:t>
                      </a:r>
                      <a:endParaRPr lang="ru-RU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50–150 МБ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 ГБ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100–500 МБ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3168252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FC0C6D8-6DBD-DD5F-CBBE-08333E7F4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00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DB75C0-EE1F-1999-4C95-879654819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58779"/>
            <a:ext cx="10515600" cy="2749468"/>
          </a:xfrm>
        </p:spPr>
        <p:txBody>
          <a:bodyPr>
            <a:normAutofit/>
          </a:bodyPr>
          <a:lstStyle/>
          <a:p>
            <a:pPr algn="ctr"/>
            <a:r>
              <a:rPr lang="ru-RU" sz="4000" dirty="0" err="1">
                <a:latin typeface="Arial" panose="020B0604020202020204" pitchFamily="34" charset="0"/>
                <a:cs typeface="Arial" panose="020B0604020202020204" pitchFamily="34" charset="0"/>
              </a:rPr>
              <a:t>Использвание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Whisper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99DAAD-A6CD-D644-9284-C71D4E0F2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3768"/>
            <a:ext cx="10515600" cy="618423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Установка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Python 3.10+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Установка PyTorch с поддержкой GPU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torch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torchvision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torchaudio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--index-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https://download.pytorch.org/whl/cu121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Установка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Whisper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от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OpenAI: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git+https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://github.com/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openai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whisper.git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4.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F13788-B24B-7B9E-5D81-933A89884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9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D3AC8DA-8755-1850-E781-B1FABA3A8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898" y="3566241"/>
            <a:ext cx="8571720" cy="315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360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3BBD29-F8FA-4288-0432-DE91F3E3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86063"/>
            <a:ext cx="10515600" cy="2476751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671684-5D66-B15F-2656-BE61F3163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8568"/>
            <a:ext cx="10515600" cy="5198395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Современные нейросетевые модели для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транскрибации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речи существенно превзошли классические алгоритмы благодаря способности учитывать длинные контексты, вариативность произношения и шумовые условия.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03457E-73C7-1849-5A21-8952C0FC9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0951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361</Words>
  <Application>Microsoft Office PowerPoint</Application>
  <PresentationFormat>Широкоэкранный</PresentationFormat>
  <Paragraphs>67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Тема Office</vt:lpstr>
      <vt:lpstr>Применение нейросетевых моделей для транскрибации аудио</vt:lpstr>
      <vt:lpstr>Определение</vt:lpstr>
      <vt:lpstr>Актуальность</vt:lpstr>
      <vt:lpstr>Принцип работы нейросетей для транскрибации аудио</vt:lpstr>
      <vt:lpstr>Архитектура Transformer</vt:lpstr>
      <vt:lpstr>Архитектура Transformer</vt:lpstr>
      <vt:lpstr>Архитектура Transformer</vt:lpstr>
      <vt:lpstr>Сравнительный анализ нейросетей для транскрибации аудио</vt:lpstr>
      <vt:lpstr>Использвание Whisper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Макс Коновалов</dc:creator>
  <cp:lastModifiedBy>Макс Коновалов</cp:lastModifiedBy>
  <cp:revision>1</cp:revision>
  <dcterms:created xsi:type="dcterms:W3CDTF">2026-03-23T20:31:24Z</dcterms:created>
  <dcterms:modified xsi:type="dcterms:W3CDTF">2026-03-23T21:30:09Z</dcterms:modified>
</cp:coreProperties>
</file>