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1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8B8A18-4C3B-4943-DF40-D1440D045B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B33106F-9AEF-2272-87EB-AE0AFA6962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CD0AB9E-7639-E5B0-D73D-4F2F6C3EA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D94D3-D7E7-4BD9-B8B6-7CA70BE76FE8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439DD33-366D-73F0-D336-1746A86A6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893B9C1-6793-D769-C350-E7CD30E62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09C93-6D6A-4BD5-84FE-F2D3850579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9508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22A672-BD74-039E-E40C-9A342AB75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934F30B-EF59-9B7E-50A9-ADDDA03467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5EF9427-3835-E94A-D53E-BA4295BEC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D94D3-D7E7-4BD9-B8B6-7CA70BE76FE8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EE527E7-3701-5262-9E72-E8ADDA699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F8D8540-E2F6-86F1-F595-FBA0C543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09C93-6D6A-4BD5-84FE-F2D3850579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2436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56812E-D680-9EDC-4DE4-039AC303B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5754479-BDFD-8B1F-B109-38274B67A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FC428F3-4F43-4DDD-E9C6-F1724DB1E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D94D3-D7E7-4BD9-B8B6-7CA70BE76FE8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2EA770B-189D-632C-ADF9-398E7D427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CB0A7A7-2ED8-49E2-86CE-7E4537A1E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09C93-6D6A-4BD5-84FE-F2D3850579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10921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6EFD33-CF34-EAF8-CDEE-BE0D0A19B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42672DC-29BD-5AF2-61AD-BBCB50F40C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38AD59B-E38A-FB2A-C7AB-F32F9D77EE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249DF1B-EA2D-95E8-0A5A-10C4F2E38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D94D3-D7E7-4BD9-B8B6-7CA70BE76FE8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DD7A3DA-E45C-43D9-2982-37E6F1E71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916295A-F6F5-8CC3-FBFC-1C2CC8252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09C93-6D6A-4BD5-84FE-F2D3850579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3348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50D5D3-C1A1-8292-A2C1-F95FE3283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F6909C3-C682-5996-1FB6-A24568C6F4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2E81FB6-E246-CDF6-EB95-AB2509EEBF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6524D27-8EE0-4124-51F8-4CFE348E23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B7C7BC3-89A6-7CC6-C923-FAD350F26C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BA6AE12-5C18-4C64-27E8-17258505C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D94D3-D7E7-4BD9-B8B6-7CA70BE76FE8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3347492-65E3-6861-F8D9-EDC0A4823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9023332-1158-BC80-95DE-5E1944336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09C93-6D6A-4BD5-84FE-F2D3850579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5021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EF6C65-BCDD-4F7F-0242-02A76EE3A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D4C8658-97B0-D288-3A1D-AC5829B44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D94D3-D7E7-4BD9-B8B6-7CA70BE76FE8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4CEE100-43F5-B95A-B3A7-FCAC861D6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74163A8-25BC-4FAD-1910-DEF2053B5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09C93-6D6A-4BD5-84FE-F2D3850579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7673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80FBAA1-9C15-AF38-AEC5-2BC20F0C3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D94D3-D7E7-4BD9-B8B6-7CA70BE76FE8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C8413A6-D7A7-5652-688E-7A0318BBB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F36714E-DB70-4C89-2BCE-3BA6B4450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09C93-6D6A-4BD5-84FE-F2D3850579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0736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08022B-F249-A7AF-F73D-84E66D0AC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4C53099-DFC2-F634-1069-4453DF0394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49FF54E-C2FE-C9AD-E73F-BC61F93FA7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85CBC17-43A1-FA7D-FBBF-B08E35EFA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D94D3-D7E7-4BD9-B8B6-7CA70BE76FE8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C6B43D7-F404-174D-94DC-23C99DDAE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606C24D-CB6E-45AE-F421-9F01D7B99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09C93-6D6A-4BD5-84FE-F2D3850579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36141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9A6910-81A6-F10B-3670-89233BBAC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55B5DED-6F58-A1E2-4A10-6354B3E71A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E7CF52D-AA0D-E837-7F42-33710DE238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B93EABE-92AE-2198-0777-DA08D722D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D94D3-D7E7-4BD9-B8B6-7CA70BE76FE8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B5FD33F-F345-130C-4496-027C51AFD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C2ECD10-694B-7F57-34CE-8CE0D1622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09C93-6D6A-4BD5-84FE-F2D3850579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5537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CA3322-C30A-B5C7-30E2-98DCFE80A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41B503B-7409-E02B-4FD1-B13CB8403B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9A9AB0F-DC07-8ADD-F267-DF6D3DF8B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D94D3-D7E7-4BD9-B8B6-7CA70BE76FE8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B3FBA07-F5F3-C269-94E4-E0A2736F4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F0AB471-C5C1-BA74-E82F-F9FF8944B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09C93-6D6A-4BD5-84FE-F2D3850579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2151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44CC0A0-9997-A61F-657A-65A7124344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A7B9ABC-13BA-DC84-08E7-754E870039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9C1C503-158F-F3CC-41DE-38916CB6E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D94D3-D7E7-4BD9-B8B6-7CA70BE76FE8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D748D76-C59C-FFAD-8186-BE45F2764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1500F66-D598-69EF-7901-9C6B0C34D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09C93-6D6A-4BD5-84FE-F2D3850579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6511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044EA3-375A-952C-D706-F3B3E3B5B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86E4867-169D-6DBB-C1C9-745CB52210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7755A90-2195-8CAC-06F6-F7AA5A52A1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0D94D3-D7E7-4BD9-B8B6-7CA70BE76FE8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F458911-BD9A-1661-0978-70A425CAFC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C08BF84-DD09-A757-5693-FE3BDDC513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709C93-6D6A-4BD5-84FE-F2D3850579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1530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E1DC9F-AABD-7379-85BD-63F81EC7FF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Механизмы безопасности ос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Astra Linux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4DB2FD3-63E3-59E4-2F4E-4A4B5ABD35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80752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76F0F9-E45A-7CC1-77B6-7AC6D33C7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100" b="1" dirty="0">
                <a:latin typeface="Arial" panose="020B0604020202020204" pitchFamily="34" charset="0"/>
                <a:cs typeface="Arial" panose="020B0604020202020204" pitchFamily="34" charset="0"/>
              </a:rPr>
              <a:t>Astra Linux</a:t>
            </a:r>
            <a:r>
              <a:rPr lang="ru-RU" sz="21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ru-RU" sz="2100" dirty="0">
                <a:latin typeface="Arial" panose="020B0604020202020204" pitchFamily="34" charset="0"/>
                <a:cs typeface="Arial" panose="020B0604020202020204" pitchFamily="34" charset="0"/>
              </a:rPr>
              <a:t> это российская операционная система, основанная на Linux. Её ключевое предназначение — создание безопасной и независимой программной платформы для государственных структур, силовых ведомств и организаций, работающих с информацией ограниченного доступа, вплоть до грифа 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ru-RU" sz="2100" dirty="0">
                <a:latin typeface="Arial" panose="020B0604020202020204" pitchFamily="34" charset="0"/>
                <a:cs typeface="Arial" panose="020B0604020202020204" pitchFamily="34" charset="0"/>
              </a:rPr>
              <a:t>особой важности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ru-RU" sz="21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3526E514-A61F-9A77-ED17-8BC4E33A92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4959" y="1855433"/>
            <a:ext cx="10524358" cy="4167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2671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F94E0B-2B7D-854C-F2FF-F024E7845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97654"/>
            <a:ext cx="10515600" cy="1788343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Ключевые даты в разработке и сертификации ос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9A3507B-FE22-B2B3-3CF5-F319A5E9F4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1449"/>
            <a:ext cx="10515600" cy="4685514"/>
          </a:xfrm>
        </p:spPr>
        <p:txBody>
          <a:bodyPr/>
          <a:lstStyle/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10 февраля 2010 года: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 Этот день считается </a:t>
            </a: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официальной датой рождения Astra Linux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. Была выпущена первая публичная версия системы.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2013 год: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Сертификат ФСТЭК России № 2133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1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Это был </a:t>
            </a:r>
            <a:r>
              <a:rPr lang="ru-RU" i="1" dirty="0">
                <a:latin typeface="Arial" panose="020B0604020202020204" pitchFamily="34" charset="0"/>
                <a:cs typeface="Arial" panose="020B0604020202020204" pitchFamily="34" charset="0"/>
              </a:rPr>
              <a:t>первый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 сертификат, подтверждающий, что Astra Linux (редакция "Смоленск") соответствует требованиям по защите информации до </a:t>
            </a: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уровня "совершенно секретно"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 включительно.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В 2016 году был получен сертификат, распространяющий действие на обработку информации </a:t>
            </a: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наивысшей категории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 "Особой важности" (ОВ)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60297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A134A9-142D-DA04-02C5-7B90A83C0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13063"/>
            <a:ext cx="10515600" cy="1429304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Редакции 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Astra Linux</a:t>
            </a:r>
            <a:endParaRPr lang="ru-RU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012BB0A-1A0C-8029-DF55-87838014B8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941033"/>
            <a:ext cx="10587361" cy="5173787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ru-RU" sz="6400" b="1" dirty="0">
                <a:latin typeface="Arial" panose="020B0604020202020204" pitchFamily="34" charset="0"/>
                <a:cs typeface="Arial" panose="020B0604020202020204" pitchFamily="34" charset="0"/>
              </a:rPr>
              <a:t>1. Astra Linux Common Edition (Орёл)</a:t>
            </a:r>
          </a:p>
          <a:p>
            <a:r>
              <a:rPr lang="ru-RU" sz="6400" b="1" dirty="0">
                <a:latin typeface="Arial" panose="020B0604020202020204" pitchFamily="34" charset="0"/>
                <a:cs typeface="Arial" panose="020B0604020202020204" pitchFamily="34" charset="0"/>
              </a:rPr>
              <a:t>Статус:</a:t>
            </a:r>
            <a:r>
              <a:rPr lang="ru-RU" sz="64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ru-RU" sz="6400" b="1" dirty="0">
                <a:latin typeface="Arial" panose="020B0604020202020204" pitchFamily="34" charset="0"/>
                <a:cs typeface="Arial" panose="020B0604020202020204" pitchFamily="34" charset="0"/>
              </a:rPr>
              <a:t>Базовая (общая) редакция</a:t>
            </a:r>
            <a:r>
              <a:rPr lang="ru-RU" sz="6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ru-RU" sz="6400" b="1" dirty="0">
                <a:latin typeface="Arial" panose="020B0604020202020204" pitchFamily="34" charset="0"/>
                <a:cs typeface="Arial" panose="020B0604020202020204" pitchFamily="34" charset="0"/>
              </a:rPr>
              <a:t>Назначение:</a:t>
            </a:r>
            <a:r>
              <a:rPr lang="ru-RU" sz="6400" dirty="0">
                <a:latin typeface="Arial" panose="020B0604020202020204" pitchFamily="34" charset="0"/>
                <a:cs typeface="Arial" panose="020B0604020202020204" pitchFamily="34" charset="0"/>
              </a:rPr>
              <a:t> Для широкого использования в госорганах (не силовых), госкомпаниях и корпоративном секторе, где </a:t>
            </a:r>
            <a:r>
              <a:rPr lang="ru-RU" sz="6400" b="1" dirty="0">
                <a:latin typeface="Arial" panose="020B0604020202020204" pitchFamily="34" charset="0"/>
                <a:cs typeface="Arial" panose="020B0604020202020204" pitchFamily="34" charset="0"/>
              </a:rPr>
              <a:t>не требуется работа с информацией, составляющей государственную тайну</a:t>
            </a:r>
            <a:r>
              <a:rPr lang="ru-RU" sz="6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ru-RU" sz="6400" b="1" dirty="0">
                <a:latin typeface="Arial" panose="020B0604020202020204" pitchFamily="34" charset="0"/>
                <a:cs typeface="Arial" panose="020B0604020202020204" pitchFamily="34" charset="0"/>
              </a:rPr>
              <a:t>Безопасность:</a:t>
            </a:r>
            <a:r>
              <a:rPr lang="ru-RU" sz="6400" dirty="0">
                <a:latin typeface="Arial" panose="020B0604020202020204" pitchFamily="34" charset="0"/>
                <a:cs typeface="Arial" panose="020B0604020202020204" pitchFamily="34" charset="0"/>
              </a:rPr>
              <a:t> Использует стандартные механизмы безопасности Linux. Система принудительного контроля доступа (</a:t>
            </a:r>
            <a:r>
              <a:rPr lang="ru-RU" sz="6400" b="1" dirty="0">
                <a:latin typeface="Arial" panose="020B0604020202020204" pitchFamily="34" charset="0"/>
                <a:cs typeface="Arial" panose="020B0604020202020204" pitchFamily="34" charset="0"/>
              </a:rPr>
              <a:t>ПАРСЕК</a:t>
            </a:r>
            <a:r>
              <a:rPr lang="ru-RU" sz="6400" dirty="0">
                <a:latin typeface="Arial" panose="020B0604020202020204" pitchFamily="34" charset="0"/>
                <a:cs typeface="Arial" panose="020B0604020202020204" pitchFamily="34" charset="0"/>
              </a:rPr>
              <a:t>) </a:t>
            </a:r>
            <a:r>
              <a:rPr lang="ru-RU" sz="6400" b="1" dirty="0">
                <a:latin typeface="Arial" panose="020B0604020202020204" pitchFamily="34" charset="0"/>
                <a:cs typeface="Arial" panose="020B0604020202020204" pitchFamily="34" charset="0"/>
              </a:rPr>
              <a:t>отсутствует</a:t>
            </a:r>
            <a:r>
              <a:rPr lang="ru-RU" sz="6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r>
              <a:rPr lang="ru-RU" sz="6400" b="1" dirty="0">
                <a:latin typeface="Arial" panose="020B0604020202020204" pitchFamily="34" charset="0"/>
                <a:cs typeface="Arial" panose="020B0604020202020204" pitchFamily="34" charset="0"/>
              </a:rPr>
              <a:t>2. Astra Linux Special Edition (Смоленск)</a:t>
            </a:r>
          </a:p>
          <a:p>
            <a:r>
              <a:rPr lang="ru-RU" sz="6400" b="1" dirty="0">
                <a:latin typeface="Arial" panose="020B0604020202020204" pitchFamily="34" charset="0"/>
                <a:cs typeface="Arial" panose="020B0604020202020204" pitchFamily="34" charset="0"/>
              </a:rPr>
              <a:t>Статус:</a:t>
            </a:r>
            <a:r>
              <a:rPr lang="ru-RU" sz="64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ru-RU" sz="6400" b="1" dirty="0">
                <a:latin typeface="Arial" panose="020B0604020202020204" pitchFamily="34" charset="0"/>
                <a:cs typeface="Arial" panose="020B0604020202020204" pitchFamily="34" charset="0"/>
              </a:rPr>
              <a:t>Специальная (защищённая) редакция</a:t>
            </a:r>
            <a:r>
              <a:rPr lang="ru-RU" sz="6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ru-RU" sz="6400" b="1" dirty="0">
                <a:latin typeface="Arial" panose="020B0604020202020204" pitchFamily="34" charset="0"/>
                <a:cs typeface="Arial" panose="020B0604020202020204" pitchFamily="34" charset="0"/>
              </a:rPr>
              <a:t>Назначение:</a:t>
            </a:r>
            <a:r>
              <a:rPr lang="ru-RU" sz="6400" dirty="0">
                <a:latin typeface="Arial" panose="020B0604020202020204" pitchFamily="34" charset="0"/>
                <a:cs typeface="Arial" panose="020B0604020202020204" pitchFamily="34" charset="0"/>
              </a:rPr>
              <a:t> Для обработки информации с грифом </a:t>
            </a:r>
            <a:r>
              <a:rPr lang="ru-RU" sz="6400" b="1" dirty="0">
                <a:latin typeface="Arial" panose="020B0604020202020204" pitchFamily="34" charset="0"/>
                <a:cs typeface="Arial" panose="020B0604020202020204" pitchFamily="34" charset="0"/>
              </a:rPr>
              <a:t>"совершенно секретно"</a:t>
            </a:r>
            <a:r>
              <a:rPr lang="ru-RU" sz="6400" dirty="0">
                <a:latin typeface="Arial" panose="020B0604020202020204" pitchFamily="34" charset="0"/>
                <a:cs typeface="Arial" panose="020B0604020202020204" pitchFamily="34" charset="0"/>
              </a:rPr>
              <a:t> и </a:t>
            </a:r>
            <a:r>
              <a:rPr lang="ru-RU" sz="6400" b="1" dirty="0">
                <a:latin typeface="Arial" panose="020B0604020202020204" pitchFamily="34" charset="0"/>
                <a:cs typeface="Arial" panose="020B0604020202020204" pitchFamily="34" charset="0"/>
              </a:rPr>
              <a:t>"особой важности"</a:t>
            </a:r>
            <a:r>
              <a:rPr lang="ru-RU" sz="6400" dirty="0">
                <a:latin typeface="Arial" panose="020B0604020202020204" pitchFamily="34" charset="0"/>
                <a:cs typeface="Arial" panose="020B0604020202020204" pitchFamily="34" charset="0"/>
              </a:rPr>
              <a:t>. Основная ОС для силовых структур и оборонно-промышленного комплекса.</a:t>
            </a:r>
          </a:p>
          <a:p>
            <a:r>
              <a:rPr lang="ru-RU" sz="6400" b="1" dirty="0">
                <a:latin typeface="Arial" panose="020B0604020202020204" pitchFamily="34" charset="0"/>
                <a:cs typeface="Arial" panose="020B0604020202020204" pitchFamily="34" charset="0"/>
              </a:rPr>
              <a:t>Безопасность:</a:t>
            </a:r>
            <a:r>
              <a:rPr lang="ru-RU" sz="6400" dirty="0">
                <a:latin typeface="Arial" panose="020B0604020202020204" pitchFamily="34" charset="0"/>
                <a:cs typeface="Arial" panose="020B0604020202020204" pitchFamily="34" charset="0"/>
              </a:rPr>
              <a:t> Включает в полном объёме </a:t>
            </a:r>
            <a:r>
              <a:rPr lang="ru-RU" sz="6400" b="1" dirty="0">
                <a:latin typeface="Arial" panose="020B0604020202020204" pitchFamily="34" charset="0"/>
                <a:cs typeface="Arial" panose="020B0604020202020204" pitchFamily="34" charset="0"/>
              </a:rPr>
              <a:t>систему принудительного контроля доступа (ПАРСЕК)</a:t>
            </a:r>
            <a:r>
              <a:rPr lang="ru-RU" sz="6400" dirty="0">
                <a:latin typeface="Arial" panose="020B0604020202020204" pitchFamily="34" charset="0"/>
                <a:cs typeface="Arial" panose="020B0604020202020204" pitchFamily="34" charset="0"/>
              </a:rPr>
              <a:t>. Имеет все ключевые сертификаты ФСТЭК и Минобороны.</a:t>
            </a:r>
          </a:p>
          <a:p>
            <a:pPr marL="0" indent="0">
              <a:buNone/>
            </a:pPr>
            <a:r>
              <a:rPr lang="ru-RU" sz="6400" b="1" dirty="0">
                <a:latin typeface="Arial" panose="020B0604020202020204" pitchFamily="34" charset="0"/>
                <a:cs typeface="Arial" panose="020B0604020202020204" pitchFamily="34" charset="0"/>
              </a:rPr>
              <a:t>3. Astra Linux Special Edition (Воронеж)</a:t>
            </a:r>
          </a:p>
          <a:p>
            <a:r>
              <a:rPr lang="ru-RU" sz="6400" b="1" dirty="0">
                <a:latin typeface="Arial" panose="020B0604020202020204" pitchFamily="34" charset="0"/>
                <a:cs typeface="Arial" panose="020B0604020202020204" pitchFamily="34" charset="0"/>
              </a:rPr>
              <a:t>Статус:</a:t>
            </a:r>
            <a:r>
              <a:rPr lang="ru-RU" sz="64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ru-RU" sz="6400" b="1" dirty="0">
                <a:latin typeface="Arial" panose="020B0604020202020204" pitchFamily="34" charset="0"/>
                <a:cs typeface="Arial" panose="020B0604020202020204" pitchFamily="34" charset="0"/>
              </a:rPr>
              <a:t>Серверная редакция</a:t>
            </a:r>
            <a:r>
              <a:rPr lang="ru-RU" sz="6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ru-RU" sz="6400" b="1" dirty="0">
                <a:latin typeface="Arial" panose="020B0604020202020204" pitchFamily="34" charset="0"/>
                <a:cs typeface="Arial" panose="020B0604020202020204" pitchFamily="34" charset="0"/>
              </a:rPr>
              <a:t>Назначение:</a:t>
            </a:r>
            <a:r>
              <a:rPr lang="ru-RU" sz="6400" dirty="0">
                <a:latin typeface="Arial" panose="020B0604020202020204" pitchFamily="34" charset="0"/>
                <a:cs typeface="Arial" panose="020B0604020202020204" pitchFamily="34" charset="0"/>
              </a:rPr>
              <a:t> Предназначена исключительно для развёртывания </a:t>
            </a:r>
            <a:r>
              <a:rPr lang="ru-RU" sz="6400" b="1" dirty="0">
                <a:latin typeface="Arial" panose="020B0604020202020204" pitchFamily="34" charset="0"/>
                <a:cs typeface="Arial" panose="020B0604020202020204" pitchFamily="34" charset="0"/>
              </a:rPr>
              <a:t>серверов</a:t>
            </a:r>
            <a:r>
              <a:rPr lang="ru-RU" sz="6400" dirty="0">
                <a:latin typeface="Arial" panose="020B0604020202020204" pitchFamily="34" charset="0"/>
                <a:cs typeface="Arial" panose="020B0604020202020204" pitchFamily="34" charset="0"/>
              </a:rPr>
              <a:t> в защищённой инфраструктуре. Обеспечивает функционирование сетевых служб, баз данных, веб-сервисов и других серверных ролей в соответствии с требованиями к безопасности.</a:t>
            </a:r>
          </a:p>
          <a:p>
            <a:r>
              <a:rPr lang="ru-RU" sz="6400" b="1" dirty="0">
                <a:latin typeface="Arial" panose="020B0604020202020204" pitchFamily="34" charset="0"/>
                <a:cs typeface="Arial" panose="020B0604020202020204" pitchFamily="34" charset="0"/>
              </a:rPr>
              <a:t>Безопасность:</a:t>
            </a:r>
            <a:r>
              <a:rPr lang="ru-RU" sz="6400" dirty="0">
                <a:latin typeface="Arial" panose="020B0604020202020204" pitchFamily="34" charset="0"/>
                <a:cs typeface="Arial" panose="020B0604020202020204" pitchFamily="34" charset="0"/>
              </a:rPr>
              <a:t> Как и "Смоленск", включает механизмы ПАРСЕК, но настроенные и сертифицированные для серверного применения.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5613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0F81ED-BABC-FF19-EE1E-B8E9F44EF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074"/>
            <a:ext cx="10515600" cy="720435"/>
          </a:xfrm>
        </p:spPr>
        <p:txBody>
          <a:bodyPr/>
          <a:lstStyle/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ПАРСЕК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4B12F61-61B9-F137-1796-B8ABC244AA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840508"/>
            <a:ext cx="11132127" cy="5791201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ru-RU" sz="4500" dirty="0">
                <a:latin typeface="Arial" panose="020B0604020202020204" pitchFamily="34" charset="0"/>
                <a:cs typeface="Arial" panose="020B0604020202020204" pitchFamily="34" charset="0"/>
              </a:rPr>
              <a:t>Это </a:t>
            </a:r>
            <a:r>
              <a:rPr lang="ru-RU" sz="4500" b="1" dirty="0">
                <a:latin typeface="Arial" panose="020B0604020202020204" pitchFamily="34" charset="0"/>
                <a:cs typeface="Arial" panose="020B0604020202020204" pitchFamily="34" charset="0"/>
              </a:rPr>
              <a:t>система принудительного контроля доступа (Мандатного контроля доступа </a:t>
            </a:r>
            <a:r>
              <a:rPr lang="en-US" sz="4500" b="1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ru-RU" sz="4500" b="1" dirty="0">
                <a:latin typeface="Arial" panose="020B0604020202020204" pitchFamily="34" charset="0"/>
                <a:cs typeface="Arial" panose="020B0604020202020204" pitchFamily="34" charset="0"/>
              </a:rPr>
              <a:t> МКД)</a:t>
            </a:r>
            <a:r>
              <a:rPr lang="ru-RU" sz="4500" dirty="0">
                <a:latin typeface="Arial" panose="020B0604020202020204" pitchFamily="34" charset="0"/>
                <a:cs typeface="Arial" panose="020B0604020202020204" pitchFamily="34" charset="0"/>
              </a:rPr>
              <a:t>, которая работает поверх стандартных прав доступа Unix (DAC </a:t>
            </a:r>
            <a:r>
              <a:rPr lang="en-US" sz="45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ru-RU" sz="4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4500" dirty="0" err="1">
                <a:latin typeface="Arial" panose="020B0604020202020204" pitchFamily="34" charset="0"/>
                <a:cs typeface="Arial" panose="020B0604020202020204" pitchFamily="34" charset="0"/>
              </a:rPr>
              <a:t>Discretionary</a:t>
            </a:r>
            <a:r>
              <a:rPr lang="ru-RU" sz="4500" dirty="0">
                <a:latin typeface="Arial" panose="020B0604020202020204" pitchFamily="34" charset="0"/>
                <a:cs typeface="Arial" panose="020B0604020202020204" pitchFamily="34" charset="0"/>
              </a:rPr>
              <a:t> Access Control). Её главная задача </a:t>
            </a:r>
            <a:r>
              <a:rPr lang="en-US" sz="45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ru-RU" sz="4500" dirty="0">
                <a:latin typeface="Arial" panose="020B0604020202020204" pitchFamily="34" charset="0"/>
                <a:cs typeface="Arial" panose="020B0604020202020204" pitchFamily="34" charset="0"/>
              </a:rPr>
              <a:t> предотвратить утечку информации и несанкционированные действия, даже если злоумышленник получил права администратора.</a:t>
            </a:r>
            <a:endParaRPr lang="en-US" sz="4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ru-RU" sz="4500" dirty="0">
                <a:latin typeface="Arial" panose="020B0604020202020204" pitchFamily="34" charset="0"/>
                <a:cs typeface="Arial" panose="020B0604020202020204" pitchFamily="34" charset="0"/>
              </a:rPr>
              <a:t>ПАРСЕК работает по принципу </a:t>
            </a:r>
            <a:r>
              <a:rPr lang="ru-RU" sz="4500" b="1" dirty="0">
                <a:latin typeface="Arial" panose="020B0604020202020204" pitchFamily="34" charset="0"/>
                <a:cs typeface="Arial" panose="020B0604020202020204" pitchFamily="34" charset="0"/>
              </a:rPr>
              <a:t>"меток"</a:t>
            </a:r>
            <a:r>
              <a:rPr lang="ru-RU" sz="4500" dirty="0">
                <a:latin typeface="Arial" panose="020B0604020202020204" pitchFamily="34" charset="0"/>
                <a:cs typeface="Arial" panose="020B0604020202020204" pitchFamily="34" charset="0"/>
              </a:rPr>
              <a:t> (или </a:t>
            </a:r>
            <a:r>
              <a:rPr lang="ru-RU" sz="4500" b="1" dirty="0">
                <a:latin typeface="Arial" panose="020B0604020202020204" pitchFamily="34" charset="0"/>
                <a:cs typeface="Arial" panose="020B0604020202020204" pitchFamily="34" charset="0"/>
              </a:rPr>
              <a:t>"ярлыков"</a:t>
            </a:r>
            <a:r>
              <a:rPr lang="ru-RU" sz="4500" dirty="0">
                <a:latin typeface="Arial" panose="020B0604020202020204" pitchFamily="34" charset="0"/>
                <a:cs typeface="Arial" panose="020B0604020202020204" pitchFamily="34" charset="0"/>
              </a:rPr>
              <a:t>), которые присваиваются всем объектам в системе: пользователям, файлам, процессам, каталогам, устройствам и даже сетевым пакетам.</a:t>
            </a:r>
          </a:p>
          <a:p>
            <a:pPr marL="0" indent="0">
              <a:buNone/>
            </a:pPr>
            <a:r>
              <a:rPr lang="ru-RU" sz="4500" b="1" dirty="0">
                <a:latin typeface="Arial" panose="020B0604020202020204" pitchFamily="34" charset="0"/>
                <a:cs typeface="Arial" panose="020B0604020202020204" pitchFamily="34" charset="0"/>
              </a:rPr>
              <a:t>Мандатные метки безопасности (ММБ):</a:t>
            </a:r>
            <a:r>
              <a:rPr lang="ru-RU" sz="4500" dirty="0">
                <a:latin typeface="Arial" panose="020B0604020202020204" pitchFamily="34" charset="0"/>
                <a:cs typeface="Arial" panose="020B0604020202020204" pitchFamily="34" charset="0"/>
              </a:rPr>
              <a:t> У каждого объекта есть свой "уровень секретности" и "неиерархические категории".</a:t>
            </a:r>
          </a:p>
          <a:p>
            <a:pPr lvl="1"/>
            <a:r>
              <a:rPr lang="ru-RU" sz="4500" b="1" dirty="0">
                <a:latin typeface="Arial" panose="020B0604020202020204" pitchFamily="34" charset="0"/>
                <a:cs typeface="Arial" panose="020B0604020202020204" pitchFamily="34" charset="0"/>
              </a:rPr>
              <a:t>Уровень секретности:</a:t>
            </a:r>
            <a:r>
              <a:rPr lang="ru-RU" sz="4500" dirty="0">
                <a:latin typeface="Arial" panose="020B0604020202020204" pitchFamily="34" charset="0"/>
                <a:cs typeface="Arial" panose="020B0604020202020204" pitchFamily="34" charset="0"/>
              </a:rPr>
              <a:t> Например, "0 - Общедоступный", "1 - Для служебного пользования", "2 - Секретно", "3 - Совершенно секретно", "4 - Особой важности".</a:t>
            </a:r>
          </a:p>
          <a:p>
            <a:pPr lvl="1"/>
            <a:r>
              <a:rPr lang="ru-RU" sz="4500" b="1" dirty="0">
                <a:latin typeface="Arial" panose="020B0604020202020204" pitchFamily="34" charset="0"/>
                <a:cs typeface="Arial" panose="020B0604020202020204" pitchFamily="34" charset="0"/>
              </a:rPr>
              <a:t>Категории:</a:t>
            </a:r>
            <a:r>
              <a:rPr lang="ru-RU" sz="4500" dirty="0">
                <a:latin typeface="Arial" panose="020B0604020202020204" pitchFamily="34" charset="0"/>
                <a:cs typeface="Arial" panose="020B0604020202020204" pitchFamily="34" charset="0"/>
              </a:rPr>
              <a:t> Определяют тематику или принадлежность информации (например, "Финансы", "Кадры", "НИОКР"). Категорий может быть несколько.</a:t>
            </a:r>
          </a:p>
          <a:p>
            <a:pPr marL="0" indent="0">
              <a:buNone/>
            </a:pPr>
            <a:r>
              <a:rPr lang="ru-RU" sz="4500" b="1" dirty="0">
                <a:latin typeface="Arial" panose="020B0604020202020204" pitchFamily="34" charset="0"/>
                <a:cs typeface="Arial" panose="020B0604020202020204" pitchFamily="34" charset="0"/>
              </a:rPr>
              <a:t>Правила доступа (Правило "Звёздочки"):</a:t>
            </a:r>
            <a:br>
              <a:rPr lang="ru-RU" sz="45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4500" dirty="0">
                <a:latin typeface="Arial" panose="020B0604020202020204" pitchFamily="34" charset="0"/>
                <a:cs typeface="Arial" panose="020B0604020202020204" pitchFamily="34" charset="0"/>
              </a:rPr>
              <a:t>Чтобы процесс (пользователь) мог получить доступ к объекту (файлу), должны одновременно выполняться два условия:</a:t>
            </a:r>
          </a:p>
          <a:p>
            <a:pPr lvl="1"/>
            <a:r>
              <a:rPr lang="ru-RU" sz="4500" b="1" dirty="0">
                <a:latin typeface="Arial" panose="020B0604020202020204" pitchFamily="34" charset="0"/>
                <a:cs typeface="Arial" panose="020B0604020202020204" pitchFamily="34" charset="0"/>
              </a:rPr>
              <a:t>Уровень секретности</a:t>
            </a:r>
            <a:r>
              <a:rPr lang="ru-RU" sz="4500" dirty="0">
                <a:latin typeface="Arial" panose="020B0604020202020204" pitchFamily="34" charset="0"/>
                <a:cs typeface="Arial" panose="020B0604020202020204" pitchFamily="34" charset="0"/>
              </a:rPr>
              <a:t> пользователя должен быть </a:t>
            </a:r>
            <a:r>
              <a:rPr lang="ru-RU" sz="4500" b="1" dirty="0">
                <a:latin typeface="Arial" panose="020B0604020202020204" pitchFamily="34" charset="0"/>
                <a:cs typeface="Arial" panose="020B0604020202020204" pitchFamily="34" charset="0"/>
              </a:rPr>
              <a:t>равен или выше</a:t>
            </a:r>
            <a:r>
              <a:rPr lang="ru-RU" sz="4500" dirty="0">
                <a:latin typeface="Arial" panose="020B0604020202020204" pitchFamily="34" charset="0"/>
                <a:cs typeface="Arial" panose="020B0604020202020204" pitchFamily="34" charset="0"/>
              </a:rPr>
              <a:t> уровня секретности файла. (Нельзя читать "Совершенно секретный" файл, имея допуск только до "Секретно").</a:t>
            </a:r>
          </a:p>
          <a:p>
            <a:pPr lvl="1"/>
            <a:r>
              <a:rPr lang="ru-RU" sz="4500" b="1" dirty="0">
                <a:latin typeface="Arial" panose="020B0604020202020204" pitchFamily="34" charset="0"/>
                <a:cs typeface="Arial" panose="020B0604020202020204" pitchFamily="34" charset="0"/>
              </a:rPr>
              <a:t>Набор категорий</a:t>
            </a:r>
            <a:r>
              <a:rPr lang="ru-RU" sz="4500" dirty="0">
                <a:latin typeface="Arial" panose="020B0604020202020204" pitchFamily="34" charset="0"/>
                <a:cs typeface="Arial" panose="020B0604020202020204" pitchFamily="34" charset="0"/>
              </a:rPr>
              <a:t> пользователя должен </a:t>
            </a:r>
            <a:r>
              <a:rPr lang="ru-RU" sz="4500" b="1" dirty="0">
                <a:latin typeface="Arial" panose="020B0604020202020204" pitchFamily="34" charset="0"/>
                <a:cs typeface="Arial" panose="020B0604020202020204" pitchFamily="34" charset="0"/>
              </a:rPr>
              <a:t>полностью включать</a:t>
            </a:r>
            <a:r>
              <a:rPr lang="ru-RU" sz="4500" dirty="0">
                <a:latin typeface="Arial" panose="020B0604020202020204" pitchFamily="34" charset="0"/>
                <a:cs typeface="Arial" panose="020B0604020202020204" pitchFamily="34" charset="0"/>
              </a:rPr>
              <a:t> набор категорий файла. (Если файл помечен категориями ["Финансы", "Кадры"], то пользователь должен иметь как минимум эти же две категории).</a:t>
            </a:r>
          </a:p>
          <a:p>
            <a:pPr marL="0" indent="0">
              <a:buNone/>
            </a:pPr>
            <a:r>
              <a:rPr lang="ru-RU" sz="4500" dirty="0">
                <a:latin typeface="Arial" panose="020B0604020202020204" pitchFamily="34" charset="0"/>
                <a:cs typeface="Arial" panose="020B0604020202020204" pitchFamily="34" charset="0"/>
              </a:rPr>
              <a:t>Это правило предотвращает как "чтение вверх" (доступ к информации с более высоким грифом), так и "запись вниз" (пересылку секретных данных в менее защищённую область).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4849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3A01B5-C464-766B-9FB3-79386016D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73890"/>
            <a:ext cx="10515600" cy="1690688"/>
          </a:xfrm>
        </p:spPr>
        <p:txBody>
          <a:bodyPr/>
          <a:lstStyle/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Механизмы безопасности (1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/2)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8A861A8-957B-6876-6791-B0A9F3BE37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3018"/>
            <a:ext cx="10515600" cy="5003945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ru-RU" b="1" dirty="0"/>
              <a:t>1. Дискреционное управление доступом (DAC)</a:t>
            </a:r>
          </a:p>
          <a:p>
            <a:r>
              <a:rPr lang="ru-RU" dirty="0"/>
              <a:t>Стандартная для Linux модель прав доступа на основе владельца файла и прав (</a:t>
            </a:r>
            <a:r>
              <a:rPr lang="ru-RU" b="1" dirty="0" err="1"/>
              <a:t>rwx</a:t>
            </a:r>
            <a:r>
              <a:rPr lang="ru-RU" dirty="0"/>
              <a:t> для владельца, группы и остальных). Является </a:t>
            </a:r>
            <a:r>
              <a:rPr lang="ru-RU" b="1" dirty="0"/>
              <a:t>первым, базовым рубежом</a:t>
            </a:r>
            <a:r>
              <a:rPr lang="ru-RU" dirty="0"/>
              <a:t> защиты. Работает в паре с ПАРСЕК. Сначала проверяются стандартные права Linux, и только если они разрешают действие, в дело вступает ПАРСЕК для более тонкой проверки.</a:t>
            </a:r>
          </a:p>
          <a:p>
            <a:pPr marL="0" indent="0">
              <a:buNone/>
            </a:pPr>
            <a:r>
              <a:rPr lang="ru-RU" b="1" dirty="0"/>
              <a:t>2. Защищённая загрузка (Secure Boot)</a:t>
            </a:r>
          </a:p>
          <a:p>
            <a:r>
              <a:rPr lang="ru-RU" dirty="0"/>
              <a:t>Механизм, который гарантирует, что компьютер загружается только с помощью ПО, которому доверяет производитель (в данном случае — разработчик ОС). Предотвращает запуск неавторизованных загрузчиков и ядра, защищая от руткитов, модифицирующих загрузочный процесс.</a:t>
            </a:r>
          </a:p>
          <a:p>
            <a:pPr marL="0" indent="0">
              <a:buNone/>
            </a:pPr>
            <a:r>
              <a:rPr lang="ru-RU" b="1" dirty="0"/>
              <a:t>3. Мандатное управление загрузкой (МУЗ)</a:t>
            </a:r>
          </a:p>
          <a:p>
            <a:r>
              <a:rPr lang="ru-RU" dirty="0"/>
              <a:t>Уникальный для Astra Linux механизм, который </a:t>
            </a:r>
            <a:r>
              <a:rPr lang="ru-RU" b="1" dirty="0"/>
              <a:t>блокирует загрузку ОС с любых несанкционированных носителей</a:t>
            </a:r>
            <a:r>
              <a:rPr lang="ru-RU" dirty="0"/>
              <a:t> (USB-флешек, CD/DVD). Критически важен для соответствия требованиям ФСТЭК. Администратор может "привязать" систему к конкретному жесткому диску. После этого загрузить Astra Linux с другого диска или флешки будет невозможно, что предотвращает попытки обхода защиты.</a:t>
            </a:r>
          </a:p>
          <a:p>
            <a:pPr marL="0" indent="0">
              <a:buNone/>
            </a:pPr>
            <a:r>
              <a:rPr lang="ru-RU" b="1" dirty="0"/>
              <a:t>4. Мандатный контроль целостности (МКЦ)</a:t>
            </a:r>
          </a:p>
          <a:p>
            <a:r>
              <a:rPr lang="ru-RU" dirty="0"/>
              <a:t>Система, которая отслеживает и контролирует </a:t>
            </a:r>
            <a:r>
              <a:rPr lang="ru-RU" b="1" dirty="0"/>
              <a:t>целостность критически важных файлов</a:t>
            </a:r>
            <a:r>
              <a:rPr lang="ru-RU" dirty="0"/>
              <a:t> ОС (исполняемых файлов, библиотек, конфигураций). Сравнивает контрольные суммы файлов с эталонной базой. Если файл был изменён (например, вирусом или злоумышленником), система может заблокировать его выполнение и оповестить администратора.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752879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8CC16D-4146-D782-A3EA-CB587C46F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245436" cy="1071417"/>
          </a:xfrm>
        </p:spPr>
        <p:txBody>
          <a:bodyPr/>
          <a:lstStyle/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Механизмы безопасности (2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/2)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CA62211-88CC-8214-A018-F5A9E19278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23636"/>
            <a:ext cx="10515600" cy="5745019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5. Гаситель (Демпфер) данных в оперативной памяти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Механизм, который </a:t>
            </a: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немедленно очищает освобождаемые участки оперативной памяти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. Не позволяет одной программе "подсмотреть" данные, оставшиеся в памяти от другой завершённой программы. Это защищает от целого класса атак, направленных на анализ содержимого ОЗУ.</a:t>
            </a:r>
          </a:p>
          <a:p>
            <a:pPr marL="0" indent="0">
              <a:buNone/>
            </a:pP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6. Изоляция и защита процессов</a:t>
            </a:r>
          </a:p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Межсетевой экран (</a:t>
            </a:r>
            <a:r>
              <a:rPr lang="ru-RU" b="1" dirty="0" err="1">
                <a:latin typeface="Arial" panose="020B0604020202020204" pitchFamily="34" charset="0"/>
                <a:cs typeface="Arial" panose="020B0604020202020204" pitchFamily="34" charset="0"/>
              </a:rPr>
              <a:t>iptables</a:t>
            </a: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ru-RU" b="1" dirty="0" err="1">
                <a:latin typeface="Arial" panose="020B0604020202020204" pitchFamily="34" charset="0"/>
                <a:cs typeface="Arial" panose="020B0604020202020204" pitchFamily="34" charset="0"/>
              </a:rPr>
              <a:t>nftables</a:t>
            </a: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):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 Глубокая интеграция и предварительная настройка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firewall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для контроля сетевого трафика.</a:t>
            </a:r>
          </a:p>
          <a:p>
            <a:r>
              <a:rPr lang="ru-RU" b="1" dirty="0" err="1">
                <a:latin typeface="Arial" panose="020B0604020202020204" pitchFamily="34" charset="0"/>
                <a:cs typeface="Arial" panose="020B0604020202020204" pitchFamily="34" charset="0"/>
              </a:rPr>
              <a:t>Namespaces</a:t>
            </a: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 и </a:t>
            </a:r>
            <a:r>
              <a:rPr lang="ru-RU" b="1" dirty="0" err="1">
                <a:latin typeface="Arial" panose="020B0604020202020204" pitchFamily="34" charset="0"/>
                <a:cs typeface="Arial" panose="020B0604020202020204" pitchFamily="34" charset="0"/>
              </a:rPr>
              <a:t>Cgroups</a:t>
            </a: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 Использование современных механизмов ядра Linux для изоляции процессов и управления ресурсами, что лежит в основе контейнеризации и повышает общую стабильность и безопасность.</a:t>
            </a:r>
          </a:p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Запрет на выполнение кода в стеке и куче (NX/XD-</a:t>
            </a:r>
            <a:r>
              <a:rPr lang="ru-RU" b="1" dirty="0" err="1">
                <a:latin typeface="Arial" panose="020B0604020202020204" pitchFamily="34" charset="0"/>
                <a:cs typeface="Arial" panose="020B0604020202020204" pitchFamily="34" charset="0"/>
              </a:rPr>
              <a:t>bit</a:t>
            </a: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):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 Аппаратная защита, предотвращающая выполнение вредоносного кода, внедрённого в области памяти, предназначенные для данных.</a:t>
            </a:r>
          </a:p>
          <a:p>
            <a:pPr marL="0" indent="0">
              <a:buNone/>
            </a:pP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7. Криптографическая защита</a:t>
            </a:r>
          </a:p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Полноценное шифрование дисков: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 Поддержка технологий типа LUKS для шифрования всего системного раздела или домашних каталогов пользователей.</a:t>
            </a:r>
          </a:p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Поддержка российских криптографических алгоритмов: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 Интеграция с ГОСТ-алгоритмами (например, ГОСТ 28147-89, ГОСТ Р 34.11-2012), что является обязательным требованием для использования в госорганах РФ.</a:t>
            </a:r>
          </a:p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Защищённые средства связи: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 В комплект поставки входят средства, поддерживающие шифрование сетевого трафика и VPN-соединений по российским стандартам.</a:t>
            </a:r>
          </a:p>
          <a:p>
            <a:pPr marL="0" indent="0">
              <a:buNone/>
            </a:pP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8. Аудит и учёт</a:t>
            </a:r>
          </a:p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Расширенная подсистема аудита: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 Система ведёт детальный журнал всех событий безопасности: входа и выхода пользователей, доступа к файлам, использования прав, сетевых подключений и т.д.</a:t>
            </a:r>
          </a:p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Централизованный сбор логов: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 Возможность отправки всех логов на защищённый сервер аудита для последующего анализа и расследования инцидентов.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8076586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1105</Words>
  <Application>Microsoft Office PowerPoint</Application>
  <PresentationFormat>Широкоэкранный</PresentationFormat>
  <Paragraphs>53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Тема Office</vt:lpstr>
      <vt:lpstr>Механизмы безопасности ос Astra Linux</vt:lpstr>
      <vt:lpstr>Astra Linux - это российская операционная система, основанная на Linux. Её ключевое предназначение — создание безопасной и независимой программной платформы для государственных структур, силовых ведомств и организаций, работающих с информацией ограниченного доступа, вплоть до грифа “особой важности”. </vt:lpstr>
      <vt:lpstr>Ключевые даты в разработке и сертификации ос</vt:lpstr>
      <vt:lpstr>Редакции Astra Linux</vt:lpstr>
      <vt:lpstr>ПАРСЕК</vt:lpstr>
      <vt:lpstr>Механизмы безопасности (1/2) </vt:lpstr>
      <vt:lpstr>Механизмы безопасности (2/2)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Макс Коновалов</dc:creator>
  <cp:lastModifiedBy>Макс Коновалов</cp:lastModifiedBy>
  <cp:revision>4</cp:revision>
  <dcterms:created xsi:type="dcterms:W3CDTF">2025-11-22T17:24:18Z</dcterms:created>
  <dcterms:modified xsi:type="dcterms:W3CDTF">2025-11-23T07:05:20Z</dcterms:modified>
</cp:coreProperties>
</file>