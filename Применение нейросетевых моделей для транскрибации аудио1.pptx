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4E0D9-DF3B-4F59-A811-525CC22F4B7B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16019-18F8-46CF-8382-8754D4F2A5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87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07392-0610-56B9-A0EB-3914342A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BB8A9-3D14-55A7-EE2F-F86954605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FFADE-52CB-52E2-146A-D639434D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6580-7287-4A83-A6C9-A5DAD1C42F7D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E22C06-23A1-A007-B47C-8FE4F886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F22954-F3B3-07C3-980F-38CFB7E2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0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54C4C-BA06-66EC-0B35-3373AECC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30F3A-84EE-1082-5077-DB3C94CA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CADFD-930B-D80E-A620-37A5EE38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22F1-2EE5-4644-BD28-77383C6FBA3B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C335C7-7A19-B4A9-65D1-BA6288D8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37EC23-98B3-FB76-95FC-3E17E2B7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9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73EFA-4391-5CBB-C6D5-3483101D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EAD85B-E6F2-EE17-1E45-255284F33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A5A9F-1E3E-BC62-F1F6-23A24863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4FDE-2775-403C-8372-7A70D92539AB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FD0A09-067D-4B2E-4FAF-CAB89964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1E833-926B-116D-0B3F-40700B4C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79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32736-239E-8A1E-6D3C-8A25AB40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AC99C8-5A91-45D7-498E-A77B056B1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FF2EB0-2959-3AB3-8C0A-40552E23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4F747C-1620-6B77-0BED-47917E16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BA2-9DE2-4AA0-9C2F-B3D42440FC96}" type="datetime1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7D356F-C4BF-45B1-47FB-79B573D9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ED6568-E9DC-15B9-CCD9-FAEF2E94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12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EFA13-7B11-A4AE-9D78-9FAFBC4D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945C45-CF80-14B4-5834-CAC28BDAE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05BD0-2150-4F4E-9A63-E7355DD1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393870-07A3-5A7C-F2B5-1BCFC8DBB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CFBD7B3-D67C-D3BB-F29C-BC4DED87A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AFA4B9-19A8-5603-305B-56DF2350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15E66-B1AB-425E-A82D-20171D130A1F}" type="datetime1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C2EBA69-0E21-822E-206C-A2273E0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2F0040-23E9-3855-836B-D0E853DD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26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4667-D5E4-AFE4-4BA8-22EFA7AF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C5207A-1296-7C89-591A-03419610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E1EC-1889-4B29-8F05-107E44C57612}" type="datetime1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883762-8980-EFBC-22E3-5281EE3B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F9F79F-9771-EABA-B7FC-742E31D7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35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5C2041-1346-A591-2A1C-F3CDACBF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A941-CD8A-42BB-81F2-3906349818C1}" type="datetime1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DD7A84C-DF10-AFFB-ABFB-AEFADF67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0979FA-91FA-46B3-5D87-CCA053C6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87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64014-E2B8-1859-6C93-AC1948A8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CA7B3-9C24-F375-F5E1-21E2B1FA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AD629F-DACF-B7C7-6DC5-9489E0D6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19A46F-1656-528B-9A9E-AA3AFCD7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64A68-CDA2-4F6C-A2B4-0921156CA9BE}" type="datetime1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657122-35F1-F0D9-1A74-5C7A09A0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489B4D-4AFE-148A-FDC3-B6368B18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3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00C22-580E-9CC9-2FC0-7DE34B3A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9FB224-F0C0-018C-5685-12103C1EE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2A7DC0-8D12-F159-035A-5842F76FD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A566A8-92EF-0263-A515-D4466E47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202DD-0B13-4762-81C9-DF6C67B455F9}" type="datetime1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96281-0718-BDC2-5223-2FC26671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576BF7-C95C-B0DA-44F8-8CC92EED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08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53FEF-C320-39E8-8B06-9397B4E3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652396-6E44-2519-7A60-D9307A99B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F26A7-40A7-D23C-94CF-8721AF2A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D017-8788-4ED1-8098-6FB5E7C826F0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74B800-F076-72FC-FA8E-F7879D16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D88222-70A8-C9F3-DAF7-060F4150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08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575A9D-F4F6-07F6-C279-B95114F0B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FD5C78-21C1-546D-F8D0-08C07FDD6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9936D-C933-FB24-2B87-BDBD5D42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413A-970C-41E8-9554-ECAE3D57D40A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9F6886-5D82-3A80-A4EE-D985CA93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E92912-06A3-C691-DD1E-8AFA3DFE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2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1631A-80A2-55F6-32E5-7BB7173D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B14823-26B9-F375-5530-5C3B68BA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D4A2D7-DC9D-51B4-19AD-98ADF3133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CAF3-F8EF-40F5-A7D1-E6DB70117591}" type="datetime1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141BE0-480A-BF1C-9482-DA0670AA5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1431C-EC18-513E-DD91-8D5DC7C2A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A65B8-2979-44E9-8D26-66FE3A504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90A4A-F20F-A20F-C7DB-0FF11C53F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Применение нейросетевых моделей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9A23FF-9CE1-AF19-C40D-50F3E0F75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31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57EF-33FA-0A3A-4CE9-C0F5E544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3847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CF624A-2C9B-C46D-BCAB-21600EDD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579" y="1180708"/>
            <a:ext cx="10515600" cy="2809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Нейросеть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голоса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это ИИ-модель, которая автоматически преобразует аудиозаписи речи в текст, используя технологии распознавания речи (ASR 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Speech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). Она анализирует звуковые волны, выделяет фонемы, слова и предложения, учитывая контекст, пунктуацию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спикеров</a:t>
            </a: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8CF1A229-901B-0E95-7802-16632FF5A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94" b="18164"/>
          <a:stretch>
            <a:fillRect/>
          </a:stretch>
        </p:blipFill>
        <p:spPr bwMode="auto">
          <a:xfrm>
            <a:off x="2623930" y="3832405"/>
            <a:ext cx="6609522" cy="246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F0B275-900C-A593-37C1-904309BB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695" y="378031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947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5E156-1175-07BA-1067-7B22C522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5043"/>
            <a:ext cx="10515600" cy="148424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0B71798-8E59-46E0-ADEB-D3963AE3D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8" t="8976"/>
          <a:stretch>
            <a:fillRect/>
          </a:stretch>
        </p:blipFill>
        <p:spPr>
          <a:xfrm>
            <a:off x="2149633" y="1020417"/>
            <a:ext cx="8690646" cy="5625136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F50ACC-DF86-772E-7758-A760F008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3948" y="368460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FD69C-2B3D-1667-E88C-AEF4C2EA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21"/>
            <a:ext cx="10515600" cy="10908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Принцип работы нейросетей для </a:t>
            </a:r>
            <a:r>
              <a:rPr lang="ru-RU" sz="36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E5A740-4A1C-2D83-D955-64C44E23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7905" y="315912"/>
            <a:ext cx="2743200" cy="365125"/>
          </a:xfrm>
        </p:spPr>
        <p:txBody>
          <a:bodyPr/>
          <a:lstStyle/>
          <a:p>
            <a:fld id="{096A65B8-2979-44E9-8D26-66FE3A504725}" type="slidenum">
              <a:rPr lang="ru-RU" smtClean="0"/>
              <a:t>4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D4592CC-43F9-FFFF-7CC7-7A914A88A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9" t="14163" r="1335"/>
          <a:stretch>
            <a:fillRect/>
          </a:stretch>
        </p:blipFill>
        <p:spPr>
          <a:xfrm>
            <a:off x="565872" y="1251284"/>
            <a:ext cx="11060255" cy="5143837"/>
          </a:xfrm>
        </p:spPr>
      </p:pic>
    </p:spTree>
    <p:extLst>
      <p:ext uri="{BB962C8B-B14F-4D97-AF65-F5344CB8AC3E}">
        <p14:creationId xmlns:p14="http://schemas.microsoft.com/office/powerpoint/2010/main" val="311272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C61E0-6E53-7320-46FA-BF9B9EB3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3557"/>
            <a:ext cx="10515600" cy="1844842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9F745-D2E3-CCE2-9EA2-84482C71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064"/>
            <a:ext cx="10515600" cy="59354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5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архитектуры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В отличие от RNN или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, которые обрабатывают аудио последовательно,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может сразу проанализировать всю аудиозапись целиком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Благодаря тому, что каждый фрейм аудио обрабатывается одновременно, а не по шагам, обработка проходит быстрее, особенно на GPU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Механизм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позволяет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учитывать весь контекст фразы, а не только отдельный звук, благодаря этому модель понимает слово даже если оно произнесено с непривычным акцентом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Механизм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выделяет ключевые участки аудио, игнорируя неважные шумовые фрагменты. Если модель видит, что определённые фреймы не связаны с речью, она почти не учитывает их при распознавании слов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3B38B-8E6D-DF02-7879-242865F2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7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90364-7DC6-F50A-2171-21D90358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142" y="-787010"/>
            <a:ext cx="10515600" cy="2268204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23189A-3A44-B120-88CC-2E289C50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E2A310B-1408-6FFA-6074-1350E89E4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76EC62-14D7-C14F-6D17-36FBE9B5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88" y="671421"/>
            <a:ext cx="11594108" cy="618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4110D-1FEA-8332-8008-84D88EA1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788" y="-128336"/>
            <a:ext cx="8386011" cy="1267326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326F0D-B2D7-9639-CDB6-F6743C7C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7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F56AE13-9F8A-294C-6BBA-56E073D5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81DC58-E3EC-004E-9A6D-511E4E37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9" y="699005"/>
            <a:ext cx="11194001" cy="61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6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7C601-C6ED-C927-1D0C-FD61894E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68966"/>
            <a:ext cx="10515600" cy="1491914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Сравнительный анализ нейросетей для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аудио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D8923EA-AD84-C336-133A-8C7AB5F78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186663"/>
              </p:ext>
            </p:extLst>
          </p:nvPr>
        </p:nvGraphicFramePr>
        <p:xfrm>
          <a:off x="677779" y="998491"/>
          <a:ext cx="11081084" cy="546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271">
                  <a:extLst>
                    <a:ext uri="{9D8B030D-6E8A-4147-A177-3AD203B41FA5}">
                      <a16:colId xmlns:a16="http://schemas.microsoft.com/office/drawing/2014/main" val="3412972874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2454958777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2448775490"/>
                    </a:ext>
                  </a:extLst>
                </a:gridCol>
                <a:gridCol w="2770271">
                  <a:extLst>
                    <a:ext uri="{9D8B030D-6E8A-4147-A177-3AD203B41FA5}">
                      <a16:colId xmlns:a16="http://schemas.microsoft.com/office/drawing/2014/main" val="1589734073"/>
                    </a:ext>
                  </a:extLst>
                </a:gridCol>
              </a:tblGrid>
              <a:tr h="54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Vosk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Whisper (medium)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Kaldi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651148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Архитектура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RNN /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HMM + DNN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834231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 (</a:t>
                      </a: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чистая речь, %)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~5–8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~7–12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553321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 (</a:t>
                      </a: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шум, %)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~15–20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~10–12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~12–20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529189"/>
                  </a:ext>
                </a:extLst>
              </a:tr>
              <a:tr h="77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Акценты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+2–5%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+1–3%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+2–6% (зависит от адаптации)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302090"/>
                  </a:ext>
                </a:extLst>
              </a:tr>
              <a:tr h="69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Скорость </a:t>
                      </a:r>
                      <a:r>
                        <a:rPr lang="ru-RU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инференса</a:t>
                      </a:r>
                      <a:r>
                        <a:rPr lang="ru-RU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(10 сек аудио)</a:t>
                      </a:r>
                      <a:endParaRPr lang="ru-RU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~0.2–0.5 сек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~1–2 сек (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~0.5–1.5 сек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346921"/>
                  </a:ext>
                </a:extLst>
              </a:tr>
              <a:tr h="77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Требования к </a:t>
                      </a:r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GPU / VRAM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ГБ или меньше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2–3 ГБ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2–4 ГБ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785270"/>
                  </a:ext>
                </a:extLst>
              </a:tr>
              <a:tr h="428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Поддержка языков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99+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125544"/>
                  </a:ext>
                </a:extLst>
              </a:tr>
              <a:tr h="79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Размер модели (на диске)</a:t>
                      </a:r>
                      <a:endParaRPr lang="ru-RU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50–150 МБ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 ГБ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100–500 МБ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16825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C0C6D8-6DBD-DD5F-CBBE-08333E7F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0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B75C0-EE1F-1999-4C95-87965481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58779"/>
            <a:ext cx="10515600" cy="2749468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Использвание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13788-B24B-7B9E-5D81-933A8988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9</a:t>
            </a:fld>
            <a:endParaRPr lang="ru-RU"/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24DA6EC4-9F9A-1D29-BF9B-EAB302B11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" r="1287" b="6866"/>
          <a:stretch>
            <a:fillRect/>
          </a:stretch>
        </p:blipFill>
        <p:spPr>
          <a:xfrm>
            <a:off x="461231" y="894756"/>
            <a:ext cx="4945034" cy="28835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A31B487-A1EE-9B2B-BCD3-FC295C8C7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002" y="814062"/>
            <a:ext cx="6190340" cy="304492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BC2A62A-2AEE-D5F3-AE45-1025CB2CC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116" y="4205177"/>
            <a:ext cx="3188200" cy="22229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B53764E-0FF8-9C9F-F256-2CFF814577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83" y="4129092"/>
            <a:ext cx="8128246" cy="2375136"/>
          </a:xfrm>
          <a:prstGeom prst="rect">
            <a:avLst/>
          </a:prstGeom>
        </p:spPr>
      </p:pic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AB127E95-1FA7-FA15-9B13-687C9FF6B0BD}"/>
              </a:ext>
            </a:extLst>
          </p:cNvPr>
          <p:cNvCxnSpPr>
            <a:cxnSpLocks/>
          </p:cNvCxnSpPr>
          <p:nvPr/>
        </p:nvCxnSpPr>
        <p:spPr>
          <a:xfrm>
            <a:off x="6322320" y="3553020"/>
            <a:ext cx="0" cy="1152145"/>
          </a:xfrm>
          <a:prstGeom prst="line">
            <a:avLst/>
          </a:prstGeom>
          <a:solidFill>
            <a:srgbClr val="E71224">
              <a:alpha val="5000"/>
            </a:srgbClr>
          </a:solidFill>
          <a:ln w="12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EBDCFDFB-6D66-60DB-DE53-73942C8D5114}"/>
              </a:ext>
            </a:extLst>
          </p:cNvPr>
          <p:cNvCxnSpPr>
            <a:cxnSpLocks/>
          </p:cNvCxnSpPr>
          <p:nvPr/>
        </p:nvCxnSpPr>
        <p:spPr>
          <a:xfrm>
            <a:off x="8140397" y="5351344"/>
            <a:ext cx="1251438" cy="0"/>
          </a:xfrm>
          <a:prstGeom prst="line">
            <a:avLst/>
          </a:prstGeom>
          <a:solidFill>
            <a:srgbClr val="E71224">
              <a:alpha val="5000"/>
            </a:srgbClr>
          </a:solidFill>
          <a:ln w="126000">
            <a:solidFill>
              <a:srgbClr val="E712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A3872ABA-A27A-5D62-D78B-7163447AF5F2}"/>
              </a:ext>
            </a:extLst>
          </p:cNvPr>
          <p:cNvCxnSpPr>
            <a:cxnSpLocks/>
          </p:cNvCxnSpPr>
          <p:nvPr/>
        </p:nvCxnSpPr>
        <p:spPr>
          <a:xfrm>
            <a:off x="4840813" y="2596839"/>
            <a:ext cx="1481507" cy="0"/>
          </a:xfrm>
          <a:prstGeom prst="line">
            <a:avLst/>
          </a:prstGeom>
          <a:solidFill>
            <a:srgbClr val="E71224">
              <a:alpha val="5000"/>
            </a:srgbClr>
          </a:solidFill>
          <a:ln w="12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36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64763-FFCD-9544-D089-E9D6DC8D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59" y="-168676"/>
            <a:ext cx="11246141" cy="1361334"/>
          </a:xfrm>
        </p:spPr>
        <p:txBody>
          <a:bodyPr>
            <a:normAutofit/>
          </a:bodyPr>
          <a:lstStyle/>
          <a:p>
            <a:pPr algn="ctr"/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Транскрибация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фрагмента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фуллтоновской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речи Черчилля</a:t>
            </a:r>
            <a:endParaRPr lang="ru-RU" sz="4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9AD2DE-E87C-B63E-88CA-A7B84A2A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10</a:t>
            </a:fld>
            <a:endParaRPr lang="ru-RU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C50A2-5846-AF7E-91DF-B2DA25DC6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A4AC330-856C-D7B5-AA94-2FE58E2A3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94"/>
          <a:stretch>
            <a:fillRect/>
          </a:stretch>
        </p:blipFill>
        <p:spPr>
          <a:xfrm>
            <a:off x="524492" y="1192658"/>
            <a:ext cx="10829308" cy="56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4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BBD29-F8FA-4288-0432-DE91F3E3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86063"/>
            <a:ext cx="10515600" cy="2476751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671684-5D66-B15F-2656-BE61F3163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568"/>
            <a:ext cx="10515600" cy="519839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Современные нейросетевые модели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речи существенно превзошли классические алгоритмы благодаря способности учитывать длинные контексты, вариативность произношения и шумовые условия.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03457E-73C7-1849-5A21-8952C0FC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A65B8-2979-44E9-8D26-66FE3A50472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0951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317</Words>
  <Application>Microsoft Office PowerPoint</Application>
  <PresentationFormat>Широкоэкранный</PresentationFormat>
  <Paragraphs>64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Применение нейросетевых моделей для транскрибации аудио</vt:lpstr>
      <vt:lpstr>Определение</vt:lpstr>
      <vt:lpstr>Актуальность</vt:lpstr>
      <vt:lpstr>Принцип работы нейросетей для транскрибации аудио</vt:lpstr>
      <vt:lpstr>Архитектура Transformer</vt:lpstr>
      <vt:lpstr>Архитектура Transformer</vt:lpstr>
      <vt:lpstr>Архитектура Transformer</vt:lpstr>
      <vt:lpstr>Сравнительный анализ нейросетей для транскрибации аудио</vt:lpstr>
      <vt:lpstr>Использвание Whisper </vt:lpstr>
      <vt:lpstr>Транскрибация фрагмента фуллтоновской речи Черчилля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 Коновалов</dc:creator>
  <cp:lastModifiedBy>Макс Коновалов</cp:lastModifiedBy>
  <cp:revision>6</cp:revision>
  <dcterms:created xsi:type="dcterms:W3CDTF">2026-03-23T20:31:24Z</dcterms:created>
  <dcterms:modified xsi:type="dcterms:W3CDTF">2026-04-05T20:27:22Z</dcterms:modified>
</cp:coreProperties>
</file>